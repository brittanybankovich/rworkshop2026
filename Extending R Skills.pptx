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87227F-3A33-4313-B9DB-FE09A9A706CB}" v="10" dt="2026-01-21T16:59:59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967C-D902-9EB4-798D-A0C9BBB6D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C62DF-635D-AA45-0841-3883EE7A9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DADE8-B4B1-A9FA-A5E1-20BBE4B71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83AC-6527-4E0D-8207-1B0E7E93703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FB9F5-4323-4C99-D2FB-FEA818F3F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1D28E-9005-23DD-C99F-111AA60D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8EBB-0130-4F43-A2EA-57CC22144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8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52A8B-0F99-A503-3D6D-5796BFEC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EC45C-3326-F28A-62ED-A6A338073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059A0-CE38-8AE0-F451-14E37EBB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83AC-6527-4E0D-8207-1B0E7E93703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AF110-1E30-8B5F-399D-B229A99D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B7B9B-16AE-D075-7627-5EA385CE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8EBB-0130-4F43-A2EA-57CC22144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6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46CD-68B2-CDF9-A3C9-D8AF59735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72CA0-E152-7036-3AA3-65CACB0D0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9ED5A-5FBD-3FCD-55EB-68AA44AEF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83AC-6527-4E0D-8207-1B0E7E93703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4E389-651C-EE61-12F7-5E6FD0E1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06E64-8583-AE8A-3EA1-A61F20F4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8EBB-0130-4F43-A2EA-57CC22144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3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55DCF-9838-8CF7-AA22-A32EC3DBC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31234-A686-B63A-4855-B4FC9EDAF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38465-7335-0936-EE5C-000A5591E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B39FB-D82A-98C3-31FC-F84C9A1A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83AC-6527-4E0D-8207-1B0E7E93703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5EB9C-0A3A-C9FD-9AD6-54241365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84CE7-5ED4-A9D1-8D89-6B3B50B3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8EBB-0130-4F43-A2EA-57CC22144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50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938E6-0659-E8B3-D93E-D8D5D974D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686A4-1688-7A2C-2E0F-C68D4FFE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82CD3-2C5D-2C23-8BB0-5B744A11C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37AFED-D94B-AE6A-F3BB-50CE913E5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809CE8-1B30-232E-B3FD-D72D2D7E6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2BA642-911E-FC68-CBF6-1D4C981BD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83AC-6527-4E0D-8207-1B0E7E93703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198FB-4AA4-905C-301E-80AA838E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AACC2E-F7FF-BA2A-BDF5-A924D96A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8EBB-0130-4F43-A2EA-57CC22144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1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F2D78-1949-CF3B-0DB5-58E03EF6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5FAB15-24E5-55A4-F0C4-D5D763935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83AC-6527-4E0D-8207-1B0E7E93703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04565-1A43-C5C2-2AEB-3171C1A1C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395DE-2151-21DA-86D0-7470DFE1B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8EBB-0130-4F43-A2EA-57CC22144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33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DB9E0-AF6D-B4A5-53BA-ED81C7FFB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83AC-6527-4E0D-8207-1B0E7E93703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997B3-3F9B-D834-0058-9BE7DC238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73457-5121-A3A7-5C20-3D0F1451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8EBB-0130-4F43-A2EA-57CC22144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00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E157-7668-5C12-E2FB-09AA44149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A3B72-65F2-3AB6-D4E5-52F0EE19A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6E17D-642A-2D55-11D5-18763279D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B0597-A709-1052-B0AF-09461B0D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83AC-6527-4E0D-8207-1B0E7E93703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2D525-0286-FAFC-2870-EDE3E8620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68840-08A1-4E78-AC8D-91EBC37D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8EBB-0130-4F43-A2EA-57CC22144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50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5506-C8B9-AD45-46DE-E8B2FCFD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203FC4-5EFF-35A6-CD82-D900053D1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8B648-2514-BE1A-3094-006056CAB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93BAB-F76D-6500-F933-E759395D4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83AC-6527-4E0D-8207-1B0E7E93703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720B5-198A-99AB-0117-B575481B5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D61BD-59B2-238C-8EB9-8C483EB35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8EBB-0130-4F43-A2EA-57CC22144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6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260E-592C-42DA-0215-EE152074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8D816-0900-7316-826D-B2CB6EB88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14A9C-C142-4739-1123-F42E7AD50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83AC-6527-4E0D-8207-1B0E7E93703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40C15-EBD5-1382-FF9F-8B8934AB2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DAEEC-6ABE-3182-6526-265235CB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8EBB-0130-4F43-A2EA-57CC22144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66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3C538F-2C50-C71C-9AC2-5948B78E1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2831B-33B9-37A3-C798-1DB0371E6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1A74E-5596-470E-8BA9-56D3E955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483AC-6527-4E0D-8207-1B0E7E93703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C683D-9959-4631-7D1E-BCF69DC9C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06F1A-9128-9649-20AE-A2A55B44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8EBB-0130-4F43-A2EA-57CC22144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290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13018F-F119-9D33-C76A-515100DF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10D27-9B88-24D7-CB47-04621E611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AF0E6-689B-0CB9-73B9-86780F0B5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483AC-6527-4E0D-8207-1B0E7E93703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FF7B8-C263-1FBD-CB11-F119BD93E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02907-1227-0E2E-3766-6120F0563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D78EBB-0130-4F43-A2EA-57CC22144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6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F2277-B4EB-002C-FBC5-7B4B86CD9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Extending R Skills</a:t>
            </a:r>
          </a:p>
        </p:txBody>
      </p:sp>
    </p:spTree>
    <p:extLst>
      <p:ext uri="{BB962C8B-B14F-4D97-AF65-F5344CB8AC3E}">
        <p14:creationId xmlns:p14="http://schemas.microsoft.com/office/powerpoint/2010/main" val="45721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F571C-4BF6-3A0D-0473-61CF44EB3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Working with spatial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4E36DD-7B80-EE19-6DB1-9A2430F9D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07808"/>
            <a:ext cx="1476375" cy="1476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4A4B10-6406-2E95-4BF9-32DF5C780D67}"/>
              </a:ext>
            </a:extLst>
          </p:cNvPr>
          <p:cNvSpPr txBox="1"/>
          <p:nvPr/>
        </p:nvSpPr>
        <p:spPr>
          <a:xfrm>
            <a:off x="2314575" y="1507808"/>
            <a:ext cx="4088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 features</a:t>
            </a:r>
          </a:p>
          <a:p>
            <a:r>
              <a:rPr lang="en-US" dirty="0"/>
              <a:t>Work with points, lines, and polygons </a:t>
            </a:r>
          </a:p>
          <a:p>
            <a:r>
              <a:rPr lang="en-US" dirty="0" err="1"/>
              <a:t>Cheatsheet</a:t>
            </a:r>
            <a:r>
              <a:rPr lang="en-US" dirty="0"/>
              <a:t>: https://github.com/rstudio/cheatsheets/blob/main/sf.pdf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E02C0F-C698-BAEF-C526-4B09CF797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29" y="3652270"/>
            <a:ext cx="1468266" cy="1647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ECE2B5-5E00-A17B-9FE4-FFD91DF52AF0}"/>
              </a:ext>
            </a:extLst>
          </p:cNvPr>
          <p:cNvSpPr txBox="1"/>
          <p:nvPr/>
        </p:nvSpPr>
        <p:spPr>
          <a:xfrm>
            <a:off x="2409825" y="4293944"/>
            <a:ext cx="241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 with raster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A9F710-B156-7A5E-FAA2-8ED9DE29C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158" y="1674109"/>
            <a:ext cx="2439028" cy="21526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A5EA42-D78C-F116-53B1-CB4A1BB1D308}"/>
              </a:ext>
            </a:extLst>
          </p:cNvPr>
          <p:cNvSpPr txBox="1"/>
          <p:nvPr/>
        </p:nvSpPr>
        <p:spPr>
          <a:xfrm>
            <a:off x="4581525" y="3155067"/>
            <a:ext cx="42508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adehabitatHR</a:t>
            </a:r>
            <a:r>
              <a:rPr lang="en-US" dirty="0"/>
              <a:t>: home range estimation</a:t>
            </a:r>
          </a:p>
          <a:p>
            <a:r>
              <a:rPr lang="en-US" dirty="0" err="1"/>
              <a:t>adehabitatLT</a:t>
            </a:r>
            <a:r>
              <a:rPr lang="en-US" dirty="0"/>
              <a:t>: animal movement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183264-AA50-B2E0-824C-8E7ECBB5DA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41" t="28230" r="8266" b="29792"/>
          <a:stretch>
            <a:fillRect/>
          </a:stretch>
        </p:blipFill>
        <p:spPr>
          <a:xfrm>
            <a:off x="2409825" y="5649469"/>
            <a:ext cx="2838450" cy="762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15DE8C-BE0B-64E9-B724-361BB38D8162}"/>
              </a:ext>
            </a:extLst>
          </p:cNvPr>
          <p:cNvSpPr txBox="1"/>
          <p:nvPr/>
        </p:nvSpPr>
        <p:spPr>
          <a:xfrm>
            <a:off x="5390522" y="5845803"/>
            <a:ext cx="241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Interactive mapping</a:t>
            </a: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2EAB340D-EE24-E2D2-DA3A-9F335185D9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6CF0AA1-01ED-1B03-131F-34BCC0E986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292" y="4141751"/>
            <a:ext cx="1181100" cy="13716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B492239-A50B-8439-8A6F-9CC9EFEC76F0}"/>
              </a:ext>
            </a:extLst>
          </p:cNvPr>
          <p:cNvSpPr txBox="1"/>
          <p:nvPr/>
        </p:nvSpPr>
        <p:spPr>
          <a:xfrm>
            <a:off x="7708392" y="4700808"/>
            <a:ext cx="241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R-ArcGIS bridge</a:t>
            </a:r>
          </a:p>
        </p:txBody>
      </p:sp>
    </p:spTree>
    <p:extLst>
      <p:ext uri="{BB962C8B-B14F-4D97-AF65-F5344CB8AC3E}">
        <p14:creationId xmlns:p14="http://schemas.microsoft.com/office/powerpoint/2010/main" val="126986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CE77E-6054-14E5-5AAD-0F786659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88333-A1A0-AC7A-3878-654EF54C9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  <a:p>
            <a:r>
              <a:rPr lang="en-US" dirty="0"/>
              <a:t>apply() family of functions-avoid loops when you want to apply functions over vectors, lists, matrices (older)</a:t>
            </a:r>
          </a:p>
          <a:p>
            <a:r>
              <a:rPr lang="en-US" dirty="0"/>
              <a:t>‘purrr’ package works similar to apply() functions, but compatible with </a:t>
            </a:r>
            <a:r>
              <a:rPr lang="en-US" dirty="0" err="1"/>
              <a:t>tidyverse</a:t>
            </a:r>
            <a:r>
              <a:rPr lang="en-US" dirty="0"/>
              <a:t> (newer)</a:t>
            </a:r>
          </a:p>
        </p:txBody>
      </p:sp>
    </p:spTree>
    <p:extLst>
      <p:ext uri="{BB962C8B-B14F-4D97-AF65-F5344CB8AC3E}">
        <p14:creationId xmlns:p14="http://schemas.microsoft.com/office/powerpoint/2010/main" val="4320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C21580-971F-1BBE-019E-294252D2B3E2}"/>
              </a:ext>
            </a:extLst>
          </p:cNvPr>
          <p:cNvSpPr txBox="1"/>
          <p:nvPr/>
        </p:nvSpPr>
        <p:spPr>
          <a:xfrm>
            <a:off x="2236851" y="130230"/>
            <a:ext cx="755065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&gt; </a:t>
            </a:r>
            <a:r>
              <a:rPr lang="en-US" dirty="0" err="1"/>
              <a:t>my_list</a:t>
            </a:r>
            <a:endParaRPr lang="en-US" dirty="0"/>
          </a:p>
          <a:p>
            <a:r>
              <a:rPr lang="en-US" dirty="0"/>
              <a:t>$a[1] 1 2 3 4 5	$b[1]  6  7  8  9 10	 $c[1] 11 12 13 14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EC993-62A4-1CCF-5956-4B342A5E1A81}"/>
              </a:ext>
            </a:extLst>
          </p:cNvPr>
          <p:cNvSpPr txBox="1"/>
          <p:nvPr/>
        </p:nvSpPr>
        <p:spPr>
          <a:xfrm>
            <a:off x="579691" y="1238226"/>
            <a:ext cx="43855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 &lt;- vector("numeric", length(</a:t>
            </a:r>
            <a:r>
              <a:rPr lang="en-US" dirty="0" err="1"/>
              <a:t>my_list</a:t>
            </a:r>
            <a:r>
              <a:rPr lang="en-US" dirty="0"/>
              <a:t>)) </a:t>
            </a:r>
          </a:p>
          <a:p>
            <a:r>
              <a:rPr lang="en-US" dirty="0"/>
              <a:t>names(result) &lt;- names(</a:t>
            </a:r>
            <a:r>
              <a:rPr lang="en-US" dirty="0" err="1"/>
              <a:t>my_list</a:t>
            </a:r>
            <a:r>
              <a:rPr lang="en-US" dirty="0"/>
              <a:t>)</a:t>
            </a:r>
          </a:p>
          <a:p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 in </a:t>
            </a:r>
            <a:r>
              <a:rPr lang="en-US" dirty="0" err="1"/>
              <a:t>seq_along</a:t>
            </a:r>
            <a:r>
              <a:rPr lang="en-US" dirty="0"/>
              <a:t>(</a:t>
            </a:r>
            <a:r>
              <a:rPr lang="en-US" dirty="0" err="1"/>
              <a:t>my_list</a:t>
            </a:r>
            <a:r>
              <a:rPr lang="en-US" dirty="0"/>
              <a:t>)) {  </a:t>
            </a:r>
          </a:p>
          <a:p>
            <a:r>
              <a:rPr lang="en-US" dirty="0"/>
              <a:t>     result[</a:t>
            </a:r>
            <a:r>
              <a:rPr lang="en-US" dirty="0" err="1"/>
              <a:t>i</a:t>
            </a:r>
            <a:r>
              <a:rPr lang="en-US" dirty="0"/>
              <a:t>] &lt;- sum(</a:t>
            </a:r>
            <a:r>
              <a:rPr lang="en-US" dirty="0" err="1"/>
              <a:t>my_list</a:t>
            </a:r>
            <a:r>
              <a:rPr lang="en-US" dirty="0"/>
              <a:t>[[</a:t>
            </a:r>
            <a:r>
              <a:rPr lang="en-US" dirty="0" err="1"/>
              <a:t>i</a:t>
            </a:r>
            <a:r>
              <a:rPr lang="en-US" dirty="0"/>
              <a:t>]])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98B528-A2E8-B0E4-0DE6-CA0A9F643FE6}"/>
              </a:ext>
            </a:extLst>
          </p:cNvPr>
          <p:cNvSpPr txBox="1"/>
          <p:nvPr/>
        </p:nvSpPr>
        <p:spPr>
          <a:xfrm>
            <a:off x="1896427" y="862429"/>
            <a:ext cx="101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27F82-0871-6858-3435-9693ED64C3B3}"/>
              </a:ext>
            </a:extLst>
          </p:cNvPr>
          <p:cNvSpPr txBox="1"/>
          <p:nvPr/>
        </p:nvSpPr>
        <p:spPr>
          <a:xfrm>
            <a:off x="1896427" y="2899327"/>
            <a:ext cx="101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B8C86F9-E556-2FC7-3E6C-674B8F598C35}"/>
              </a:ext>
            </a:extLst>
          </p:cNvPr>
          <p:cNvCxnSpPr/>
          <p:nvPr/>
        </p:nvCxnSpPr>
        <p:spPr>
          <a:xfrm>
            <a:off x="5090160" y="1426464"/>
            <a:ext cx="20116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A83371-8960-1FCC-3577-EA76A1E89248}"/>
              </a:ext>
            </a:extLst>
          </p:cNvPr>
          <p:cNvSpPr txBox="1"/>
          <p:nvPr/>
        </p:nvSpPr>
        <p:spPr>
          <a:xfrm>
            <a:off x="8173593" y="1070504"/>
            <a:ext cx="1277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&gt; result</a:t>
            </a:r>
          </a:p>
          <a:p>
            <a:r>
              <a:rPr lang="en-US" dirty="0"/>
              <a:t> a  b  c </a:t>
            </a:r>
          </a:p>
          <a:p>
            <a:r>
              <a:rPr lang="en-US" dirty="0"/>
              <a:t>15 40 65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B78B5A-9178-A2D1-09B7-428A0197E95D}"/>
              </a:ext>
            </a:extLst>
          </p:cNvPr>
          <p:cNvSpPr txBox="1"/>
          <p:nvPr/>
        </p:nvSpPr>
        <p:spPr>
          <a:xfrm>
            <a:off x="825246" y="3273147"/>
            <a:ext cx="350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result_list</a:t>
            </a:r>
            <a:r>
              <a:rPr lang="en-US" dirty="0"/>
              <a:t> &lt;- </a:t>
            </a:r>
            <a:r>
              <a:rPr lang="en-US" dirty="0" err="1"/>
              <a:t>lapply</a:t>
            </a:r>
            <a:r>
              <a:rPr lang="en-US" dirty="0"/>
              <a:t>(</a:t>
            </a:r>
            <a:r>
              <a:rPr lang="en-US" dirty="0" err="1"/>
              <a:t>my_list</a:t>
            </a:r>
            <a:r>
              <a:rPr lang="en-US" dirty="0"/>
              <a:t>, sum)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9D1F06-184C-FFAC-09B2-96C259F33F1D}"/>
              </a:ext>
            </a:extLst>
          </p:cNvPr>
          <p:cNvCxnSpPr/>
          <p:nvPr/>
        </p:nvCxnSpPr>
        <p:spPr>
          <a:xfrm>
            <a:off x="5090160" y="3602987"/>
            <a:ext cx="20116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B5AACD4-CA80-F103-0E0C-7B217892858B}"/>
              </a:ext>
            </a:extLst>
          </p:cNvPr>
          <p:cNvSpPr txBox="1"/>
          <p:nvPr/>
        </p:nvSpPr>
        <p:spPr>
          <a:xfrm>
            <a:off x="7444359" y="2587324"/>
            <a:ext cx="14584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&gt; </a:t>
            </a:r>
            <a:r>
              <a:rPr lang="en-US" dirty="0" err="1"/>
              <a:t>result_list</a:t>
            </a:r>
            <a:endParaRPr lang="en-US" dirty="0"/>
          </a:p>
          <a:p>
            <a:r>
              <a:rPr lang="en-US" dirty="0"/>
              <a:t>$a</a:t>
            </a:r>
          </a:p>
          <a:p>
            <a:r>
              <a:rPr lang="en-US" dirty="0"/>
              <a:t>[1] 15</a:t>
            </a:r>
          </a:p>
          <a:p>
            <a:r>
              <a:rPr lang="en-US" dirty="0"/>
              <a:t>$b</a:t>
            </a:r>
          </a:p>
          <a:p>
            <a:r>
              <a:rPr lang="en-US" dirty="0"/>
              <a:t>[1] 40</a:t>
            </a:r>
          </a:p>
          <a:p>
            <a:r>
              <a:rPr lang="en-US" dirty="0"/>
              <a:t>$c</a:t>
            </a:r>
          </a:p>
          <a:p>
            <a:r>
              <a:rPr lang="en-US" dirty="0"/>
              <a:t>[1] 65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B770BE-382E-FC6F-2398-A2757B9A9704}"/>
              </a:ext>
            </a:extLst>
          </p:cNvPr>
          <p:cNvSpPr txBox="1"/>
          <p:nvPr/>
        </p:nvSpPr>
        <p:spPr>
          <a:xfrm>
            <a:off x="663321" y="3684157"/>
            <a:ext cx="3832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result_vector</a:t>
            </a:r>
            <a:r>
              <a:rPr lang="en-US" dirty="0"/>
              <a:t> &lt;- </a:t>
            </a:r>
            <a:r>
              <a:rPr lang="en-US" dirty="0" err="1"/>
              <a:t>sapply</a:t>
            </a:r>
            <a:r>
              <a:rPr lang="en-US" dirty="0"/>
              <a:t>(</a:t>
            </a:r>
            <a:r>
              <a:rPr lang="en-US" dirty="0" err="1"/>
              <a:t>my_list</a:t>
            </a:r>
            <a:r>
              <a:rPr lang="en-US" dirty="0"/>
              <a:t>, sum)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29CE2E-748F-64ED-938C-F61BE922FF4D}"/>
              </a:ext>
            </a:extLst>
          </p:cNvPr>
          <p:cNvSpPr txBox="1"/>
          <p:nvPr/>
        </p:nvSpPr>
        <p:spPr>
          <a:xfrm>
            <a:off x="8965310" y="2609872"/>
            <a:ext cx="2109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&gt; </a:t>
            </a:r>
            <a:r>
              <a:rPr lang="en-US" dirty="0" err="1"/>
              <a:t>result_vector</a:t>
            </a:r>
            <a:endParaRPr lang="en-US" dirty="0"/>
          </a:p>
          <a:p>
            <a:r>
              <a:rPr lang="en-US" dirty="0"/>
              <a:t> a  b  c </a:t>
            </a:r>
          </a:p>
          <a:p>
            <a:r>
              <a:rPr lang="en-US" dirty="0"/>
              <a:t>15 40 65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4194F7-BA88-E263-3D7E-68CB2F66589B}"/>
              </a:ext>
            </a:extLst>
          </p:cNvPr>
          <p:cNvSpPr txBox="1"/>
          <p:nvPr/>
        </p:nvSpPr>
        <p:spPr>
          <a:xfrm>
            <a:off x="1843372" y="5109127"/>
            <a:ext cx="101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Purrr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0B5D61-C92B-DAC8-0FF8-5D397646583C}"/>
              </a:ext>
            </a:extLst>
          </p:cNvPr>
          <p:cNvSpPr txBox="1"/>
          <p:nvPr/>
        </p:nvSpPr>
        <p:spPr>
          <a:xfrm>
            <a:off x="825246" y="558147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result_list</a:t>
            </a:r>
            <a:r>
              <a:rPr lang="en-US" dirty="0"/>
              <a:t> &lt;- map(</a:t>
            </a:r>
            <a:r>
              <a:rPr lang="en-US" dirty="0" err="1"/>
              <a:t>my_list</a:t>
            </a:r>
            <a:r>
              <a:rPr lang="en-US" dirty="0"/>
              <a:t>, sum)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57AD11-4EDD-F819-BCD5-64B4343A3524}"/>
              </a:ext>
            </a:extLst>
          </p:cNvPr>
          <p:cNvSpPr txBox="1"/>
          <p:nvPr/>
        </p:nvSpPr>
        <p:spPr>
          <a:xfrm>
            <a:off x="825246" y="599557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result_vector</a:t>
            </a:r>
            <a:r>
              <a:rPr lang="en-US" dirty="0"/>
              <a:t> &lt;- </a:t>
            </a:r>
            <a:r>
              <a:rPr lang="en-US" dirty="0" err="1"/>
              <a:t>map_dbl</a:t>
            </a:r>
            <a:r>
              <a:rPr lang="en-US" dirty="0"/>
              <a:t>(</a:t>
            </a:r>
            <a:r>
              <a:rPr lang="en-US" dirty="0" err="1"/>
              <a:t>my_list</a:t>
            </a:r>
            <a:r>
              <a:rPr lang="en-US" dirty="0"/>
              <a:t>, sum)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658511A-F44F-88AB-3733-85B02F87BDC3}"/>
              </a:ext>
            </a:extLst>
          </p:cNvPr>
          <p:cNvCxnSpPr/>
          <p:nvPr/>
        </p:nvCxnSpPr>
        <p:spPr>
          <a:xfrm>
            <a:off x="5090160" y="5938517"/>
            <a:ext cx="20116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71403A4-1BAB-757F-9B03-061C70518282}"/>
              </a:ext>
            </a:extLst>
          </p:cNvPr>
          <p:cNvSpPr txBox="1"/>
          <p:nvPr/>
        </p:nvSpPr>
        <p:spPr>
          <a:xfrm>
            <a:off x="7409688" y="4750475"/>
            <a:ext cx="14028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&gt; </a:t>
            </a:r>
            <a:r>
              <a:rPr lang="en-US" dirty="0" err="1"/>
              <a:t>result_list</a:t>
            </a:r>
            <a:endParaRPr lang="en-US" dirty="0"/>
          </a:p>
          <a:p>
            <a:r>
              <a:rPr lang="en-US" dirty="0"/>
              <a:t>$a</a:t>
            </a:r>
          </a:p>
          <a:p>
            <a:r>
              <a:rPr lang="en-US" dirty="0"/>
              <a:t>[1] 15</a:t>
            </a:r>
          </a:p>
          <a:p>
            <a:r>
              <a:rPr lang="en-US" dirty="0"/>
              <a:t>$b</a:t>
            </a:r>
          </a:p>
          <a:p>
            <a:r>
              <a:rPr lang="en-US" dirty="0"/>
              <a:t>[1] 40</a:t>
            </a:r>
          </a:p>
          <a:p>
            <a:r>
              <a:rPr lang="en-US" dirty="0"/>
              <a:t>$c</a:t>
            </a:r>
          </a:p>
          <a:p>
            <a:r>
              <a:rPr lang="en-US" dirty="0"/>
              <a:t>[1] 65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180AB0-0737-C877-7E5D-7F82C56A96B2}"/>
              </a:ext>
            </a:extLst>
          </p:cNvPr>
          <p:cNvSpPr txBox="1"/>
          <p:nvPr/>
        </p:nvSpPr>
        <p:spPr>
          <a:xfrm>
            <a:off x="8965310" y="4750475"/>
            <a:ext cx="17907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&gt; </a:t>
            </a:r>
            <a:r>
              <a:rPr lang="en-US" dirty="0" err="1"/>
              <a:t>result_vector</a:t>
            </a:r>
            <a:endParaRPr lang="en-US" dirty="0"/>
          </a:p>
          <a:p>
            <a:r>
              <a:rPr lang="en-US" dirty="0"/>
              <a:t> a  b  c </a:t>
            </a:r>
          </a:p>
          <a:p>
            <a:r>
              <a:rPr lang="en-US" dirty="0"/>
              <a:t>15 40 65 </a:t>
            </a:r>
          </a:p>
        </p:txBody>
      </p:sp>
    </p:spTree>
    <p:extLst>
      <p:ext uri="{BB962C8B-B14F-4D97-AF65-F5344CB8AC3E}">
        <p14:creationId xmlns:p14="http://schemas.microsoft.com/office/powerpoint/2010/main" val="4125051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F0344-1C0E-D969-FA47-A523FF3F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Automation: task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EBC59-77A4-562E-A9F4-2A150A039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taskscheduleR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D8063-DE0C-E80E-8893-2BC4CD55996A}"/>
              </a:ext>
            </a:extLst>
          </p:cNvPr>
          <p:cNvSpPr txBox="1"/>
          <p:nvPr/>
        </p:nvSpPr>
        <p:spPr>
          <a:xfrm>
            <a:off x="3048762" y="2341582"/>
            <a:ext cx="60944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# Schedule an R script to run daily at 8 AM</a:t>
            </a:r>
          </a:p>
          <a:p>
            <a:r>
              <a:rPr lang="en-US" dirty="0" err="1"/>
              <a:t>taskscheduler_create</a:t>
            </a:r>
            <a:r>
              <a:rPr lang="en-US" dirty="0"/>
              <a:t>(</a:t>
            </a:r>
          </a:p>
          <a:p>
            <a:r>
              <a:rPr lang="en-US" dirty="0"/>
              <a:t>  </a:t>
            </a:r>
            <a:r>
              <a:rPr lang="en-US" dirty="0" err="1"/>
              <a:t>taskname</a:t>
            </a:r>
            <a:r>
              <a:rPr lang="en-US" dirty="0"/>
              <a:t> = "</a:t>
            </a:r>
            <a:r>
              <a:rPr lang="en-US" dirty="0" err="1"/>
              <a:t>daily_report</a:t>
            </a:r>
            <a:r>
              <a:rPr lang="en-US" dirty="0"/>
              <a:t>",</a:t>
            </a:r>
          </a:p>
          <a:p>
            <a:r>
              <a:rPr lang="en-US" dirty="0"/>
              <a:t>  </a:t>
            </a:r>
            <a:r>
              <a:rPr lang="en-US" dirty="0" err="1"/>
              <a:t>rscript</a:t>
            </a:r>
            <a:r>
              <a:rPr lang="en-US" dirty="0"/>
              <a:t> = "C:/path/to/my_script.R",</a:t>
            </a:r>
          </a:p>
          <a:p>
            <a:r>
              <a:rPr lang="en-US" dirty="0"/>
              <a:t>  schedule = "DAILY",</a:t>
            </a:r>
          </a:p>
          <a:p>
            <a:r>
              <a:rPr lang="en-US" dirty="0"/>
              <a:t>  </a:t>
            </a:r>
            <a:r>
              <a:rPr lang="en-US" dirty="0" err="1"/>
              <a:t>starttime</a:t>
            </a:r>
            <a:r>
              <a:rPr lang="en-US" dirty="0"/>
              <a:t> = "08:00"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To check tasks</a:t>
            </a:r>
          </a:p>
          <a:p>
            <a:r>
              <a:rPr lang="en-US" dirty="0" err="1"/>
              <a:t>taskscheduler_ls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# To delete a scheduled task</a:t>
            </a:r>
          </a:p>
          <a:p>
            <a:r>
              <a:rPr lang="en-US" dirty="0" err="1"/>
              <a:t>taskscheduler_delete</a:t>
            </a:r>
            <a:r>
              <a:rPr lang="en-US" dirty="0"/>
              <a:t>("</a:t>
            </a:r>
            <a:r>
              <a:rPr lang="en-US" dirty="0" err="1"/>
              <a:t>daily_report</a:t>
            </a:r>
            <a:r>
              <a:rPr lang="en-US" dirty="0"/>
              <a:t>")</a:t>
            </a:r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F7F24FDD-88EA-42F0-6A86-DD18806CAC3D}"/>
              </a:ext>
            </a:extLst>
          </p:cNvPr>
          <p:cNvSpPr/>
          <p:nvPr/>
        </p:nvSpPr>
        <p:spPr>
          <a:xfrm>
            <a:off x="4059936" y="3493008"/>
            <a:ext cx="2587752" cy="265176"/>
          </a:xfrm>
          <a:prstGeom prst="borderCallout1">
            <a:avLst>
              <a:gd name="adj1" fmla="val -1939"/>
              <a:gd name="adj2" fmla="val 102267"/>
              <a:gd name="adj3" fmla="val -163362"/>
              <a:gd name="adj4" fmla="val 17686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83EEBC-8A29-4AF2-701A-E398F9830B3C}"/>
              </a:ext>
            </a:extLst>
          </p:cNvPr>
          <p:cNvSpPr txBox="1"/>
          <p:nvPr/>
        </p:nvSpPr>
        <p:spPr>
          <a:xfrm>
            <a:off x="8622792" y="2688336"/>
            <a:ext cx="2340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 to script that needs to be tasked</a:t>
            </a:r>
          </a:p>
        </p:txBody>
      </p:sp>
    </p:spTree>
    <p:extLst>
      <p:ext uri="{BB962C8B-B14F-4D97-AF65-F5344CB8AC3E}">
        <p14:creationId xmlns:p14="http://schemas.microsoft.com/office/powerpoint/2010/main" val="713247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538DD-3B16-26D0-68CC-44990AA5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Parallelization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7128A-BB74-E612-A551-3B0D73076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84739"/>
          </a:xfrm>
        </p:spPr>
        <p:txBody>
          <a:bodyPr/>
          <a:lstStyle/>
          <a:p>
            <a:r>
              <a:rPr lang="en-US" dirty="0"/>
              <a:t>When to use?</a:t>
            </a:r>
          </a:p>
          <a:p>
            <a:pPr lvl="1"/>
            <a:r>
              <a:rPr lang="en-US" b="1" dirty="0"/>
              <a:t>Independent </a:t>
            </a:r>
            <a:r>
              <a:rPr lang="en-US" dirty="0"/>
              <a:t>calculations over large datasets </a:t>
            </a:r>
          </a:p>
          <a:p>
            <a:pPr lvl="2"/>
            <a:r>
              <a:rPr lang="en-US" dirty="0"/>
              <a:t>Extracting NDVI from hundreds of </a:t>
            </a:r>
            <a:r>
              <a:rPr lang="en-US" dirty="0" err="1"/>
              <a:t>rasters</a:t>
            </a:r>
            <a:endParaRPr lang="en-US" dirty="0"/>
          </a:p>
          <a:p>
            <a:pPr lvl="2"/>
            <a:r>
              <a:rPr lang="en-US" dirty="0"/>
              <a:t>Running thousands of simulations/resamples</a:t>
            </a:r>
          </a:p>
          <a:p>
            <a:pPr lvl="2"/>
            <a:r>
              <a:rPr lang="en-US" dirty="0"/>
              <a:t>Machine learning models</a:t>
            </a:r>
          </a:p>
          <a:p>
            <a:r>
              <a:rPr lang="en-US" dirty="0"/>
              <a:t>Packages</a:t>
            </a:r>
          </a:p>
          <a:p>
            <a:pPr lvl="1"/>
            <a:r>
              <a:rPr lang="en-US" dirty="0"/>
              <a:t>Foreach + </a:t>
            </a:r>
            <a:r>
              <a:rPr lang="en-US" dirty="0" err="1"/>
              <a:t>doParallel</a:t>
            </a:r>
            <a:r>
              <a:rPr lang="en-US" dirty="0"/>
              <a:t> (older, still works)</a:t>
            </a:r>
          </a:p>
          <a:p>
            <a:pPr lvl="1"/>
            <a:r>
              <a:rPr lang="en-US" dirty="0"/>
              <a:t>future (newer, </a:t>
            </a:r>
            <a:r>
              <a:rPr lang="en-US" dirty="0" err="1"/>
              <a:t>tidyverse</a:t>
            </a:r>
            <a:r>
              <a:rPr lang="en-US" dirty="0"/>
              <a:t>) + </a:t>
            </a:r>
            <a:r>
              <a:rPr lang="en-US" dirty="0" err="1"/>
              <a:t>furrr</a:t>
            </a:r>
            <a:r>
              <a:rPr lang="en-US" dirty="0"/>
              <a:t> (newer, </a:t>
            </a:r>
            <a:r>
              <a:rPr lang="en-US" dirty="0" err="1"/>
              <a:t>tidyverse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547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594142-AE39-F8A4-B441-DE7A1E3A8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3" y="15043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Parallelization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9D19F2-C0D9-FDB5-436D-7D74307FC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512" y="1261301"/>
            <a:ext cx="5157787" cy="42938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foreach + </a:t>
            </a:r>
            <a:r>
              <a:rPr lang="en-US" dirty="0" err="1"/>
              <a:t>doParallel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A71C92-7863-0B9E-236E-B1D23D2D0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5157787" cy="48929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# List all CSV files</a:t>
            </a:r>
          </a:p>
          <a:p>
            <a:pPr marL="0" indent="0">
              <a:buNone/>
            </a:pPr>
            <a:r>
              <a:rPr lang="en-US" sz="1800" dirty="0"/>
              <a:t>files &lt;- </a:t>
            </a:r>
            <a:r>
              <a:rPr lang="en-US" sz="1800" dirty="0" err="1"/>
              <a:t>list.files</a:t>
            </a:r>
            <a:r>
              <a:rPr lang="en-US" sz="1800" dirty="0"/>
              <a:t>("data/", "*.csv", </a:t>
            </a:r>
            <a:r>
              <a:rPr lang="en-US" sz="1800" dirty="0" err="1"/>
              <a:t>full.names</a:t>
            </a:r>
            <a:r>
              <a:rPr lang="en-US" sz="1800" dirty="0"/>
              <a:t> = TRUE)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# Create a cluster with 4 cores</a:t>
            </a:r>
          </a:p>
          <a:p>
            <a:pPr marL="0" indent="0">
              <a:buNone/>
            </a:pPr>
            <a:r>
              <a:rPr lang="en-US" sz="1800" dirty="0"/>
              <a:t>cl &lt;- </a:t>
            </a:r>
            <a:r>
              <a:rPr lang="en-US" sz="1800" dirty="0" err="1"/>
              <a:t>makeCluster</a:t>
            </a:r>
            <a:r>
              <a:rPr lang="en-US" sz="1800" dirty="0"/>
              <a:t>(4)</a:t>
            </a:r>
          </a:p>
          <a:p>
            <a:pPr marL="0" indent="0">
              <a:buNone/>
            </a:pPr>
            <a:r>
              <a:rPr lang="en-US" sz="1800" dirty="0" err="1"/>
              <a:t>registerDoParallel</a:t>
            </a:r>
            <a:r>
              <a:rPr lang="en-US" sz="1800" dirty="0"/>
              <a:t>(cl)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# Parallel read of CSV files</a:t>
            </a:r>
          </a:p>
          <a:p>
            <a:pPr marL="0" indent="0">
              <a:buNone/>
            </a:pPr>
            <a:r>
              <a:rPr lang="en-US" sz="1800" dirty="0" err="1"/>
              <a:t>all_data</a:t>
            </a:r>
            <a:r>
              <a:rPr lang="en-US" sz="1800" dirty="0"/>
              <a:t> &lt;- foreach(f = files, .combine = 'list') %</a:t>
            </a:r>
            <a:r>
              <a:rPr lang="en-US" sz="1800" dirty="0" err="1"/>
              <a:t>dopar</a:t>
            </a:r>
            <a:r>
              <a:rPr lang="en-US" sz="1800" dirty="0"/>
              <a:t>% {</a:t>
            </a:r>
          </a:p>
          <a:p>
            <a:pPr marL="0" indent="0">
              <a:buNone/>
            </a:pPr>
            <a:r>
              <a:rPr lang="en-US" sz="1800" dirty="0"/>
              <a:t>  read.csv(f)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# Stop the cluster</a:t>
            </a:r>
          </a:p>
          <a:p>
            <a:pPr marL="0" indent="0">
              <a:buNone/>
            </a:pPr>
            <a:r>
              <a:rPr lang="en-US" sz="1800" dirty="0" err="1"/>
              <a:t>stopCluster</a:t>
            </a:r>
            <a:r>
              <a:rPr lang="en-US" sz="1800" dirty="0"/>
              <a:t>(cl)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C8DE31-1C37-68BA-E0CF-7E2B5678C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3" y="1261301"/>
            <a:ext cx="5183188" cy="43853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future + </a:t>
            </a:r>
            <a:r>
              <a:rPr lang="en-US" dirty="0" err="1"/>
              <a:t>furr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DFECC2-E43E-D177-CE5C-329B9ABEF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90688"/>
            <a:ext cx="5183188" cy="48929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# List all CSV files</a:t>
            </a:r>
          </a:p>
          <a:p>
            <a:pPr marL="0" indent="0">
              <a:buNone/>
            </a:pPr>
            <a:r>
              <a:rPr lang="en-US" sz="1800" dirty="0"/>
              <a:t>files &lt;- </a:t>
            </a:r>
            <a:r>
              <a:rPr lang="en-US" sz="1800" dirty="0" err="1"/>
              <a:t>list.files</a:t>
            </a:r>
            <a:r>
              <a:rPr lang="en-US" sz="1800" dirty="0"/>
              <a:t>("data/", "*.csv", </a:t>
            </a:r>
            <a:r>
              <a:rPr lang="en-US" sz="1800" dirty="0" err="1"/>
              <a:t>full.names</a:t>
            </a:r>
            <a:r>
              <a:rPr lang="en-US" sz="1800" dirty="0"/>
              <a:t> = TRUE)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# Set up parallel plan (4 cores)</a:t>
            </a:r>
          </a:p>
          <a:p>
            <a:pPr marL="0" indent="0">
              <a:buNone/>
            </a:pPr>
            <a:r>
              <a:rPr lang="en-US" sz="1800" dirty="0"/>
              <a:t>plan(multisession, workers = 4)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# Parallel read of CSV files</a:t>
            </a:r>
          </a:p>
          <a:p>
            <a:pPr marL="0" indent="0">
              <a:buNone/>
            </a:pPr>
            <a:r>
              <a:rPr lang="en-US" sz="1800" dirty="0" err="1"/>
              <a:t>all_data</a:t>
            </a:r>
            <a:r>
              <a:rPr lang="en-US" sz="1800" dirty="0"/>
              <a:t> &lt;- </a:t>
            </a:r>
            <a:r>
              <a:rPr lang="en-US" sz="1800" dirty="0" err="1"/>
              <a:t>future_map</a:t>
            </a:r>
            <a:r>
              <a:rPr lang="en-US" sz="1800" dirty="0"/>
              <a:t>(files, read.csv)</a:t>
            </a:r>
          </a:p>
        </p:txBody>
      </p:sp>
    </p:spTree>
    <p:extLst>
      <p:ext uri="{BB962C8B-B14F-4D97-AF65-F5344CB8AC3E}">
        <p14:creationId xmlns:p14="http://schemas.microsoft.com/office/powerpoint/2010/main" val="106884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593</Words>
  <Application>Microsoft Office PowerPoint</Application>
  <PresentationFormat>Widescreen</PresentationFormat>
  <Paragraphs>102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Extending R Skills</vt:lpstr>
      <vt:lpstr>Working with spatial data</vt:lpstr>
      <vt:lpstr>Automation</vt:lpstr>
      <vt:lpstr>PowerPoint Presentation</vt:lpstr>
      <vt:lpstr>Automation: task scheduling</vt:lpstr>
      <vt:lpstr>Parallelization</vt:lpstr>
      <vt:lpstr>Parallelization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Bankovich, Brittany</dc:creator>
  <cp:lastModifiedBy>Bankovich, Brittany</cp:lastModifiedBy>
  <cp:revision>2</cp:revision>
  <dcterms:created xsi:type="dcterms:W3CDTF">2026-01-21T15:32:51Z</dcterms:created>
  <dcterms:modified xsi:type="dcterms:W3CDTF">2026-01-21T17:11:06Z</dcterms:modified>
</cp:coreProperties>
</file>